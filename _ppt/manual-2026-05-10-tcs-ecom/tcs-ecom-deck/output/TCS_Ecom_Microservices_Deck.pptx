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6c381c447043ad" /><Relationship Type="http://schemas.openxmlformats.org/officeDocument/2006/relationships/extended-properties" Target="/docProps/app.xml" Id="R0f662565ac9544fe" /><Relationship Type="http://schemas.openxmlformats.org/officeDocument/2006/relationships/officeDocument" Target="/ppt/presentation.xml" Id="R92daea655e3e45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9463244024192"/>
  </p:sldMasterIdLst>
  <p:notesMasterIdLst>
    <p:notesMasterId xmlns:r="http://schemas.openxmlformats.org/officeDocument/2006/relationships" r:id="R92d14eb269184226"/>
  </p:notesMasterIdLst>
  <p:sldIdLst>
    <p:sldId xmlns:r="http://schemas.openxmlformats.org/officeDocument/2006/relationships" id="256" r:id="R666d3f653e4247bd"/>
    <p:sldId xmlns:r="http://schemas.openxmlformats.org/officeDocument/2006/relationships" id="257" r:id="Rd902bfd3ee8f4a98"/>
    <p:sldId xmlns:r="http://schemas.openxmlformats.org/officeDocument/2006/relationships" id="258" r:id="R8770a9310a14484d"/>
    <p:sldId xmlns:r="http://schemas.openxmlformats.org/officeDocument/2006/relationships" id="259" r:id="R3a0b04a8d9474800"/>
    <p:sldId xmlns:r="http://schemas.openxmlformats.org/officeDocument/2006/relationships" id="260" r:id="R335fc865e6ab4b47"/>
    <p:sldId xmlns:r="http://schemas.openxmlformats.org/officeDocument/2006/relationships" id="261" r:id="R0ea0c332ffec49bc"/>
    <p:sldId xmlns:r="http://schemas.openxmlformats.org/officeDocument/2006/relationships" id="262" r:id="R6fe948ace3d743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9463244024192" /><Relationship Type="http://schemas.openxmlformats.org/officeDocument/2006/relationships/theme" Target="/ppt/theme/theme1.xml" Id="Ra6af02a05d234b20" /><Relationship Type="http://schemas.openxmlformats.org/officeDocument/2006/relationships/notesMaster" Target="/ppt/notesMasters/notesMaster1.xml" Id="R92d14eb269184226" /><Relationship Type="http://schemas.openxmlformats.org/officeDocument/2006/relationships/presProps" Target="/ppt/presProps.xml" Id="Rb0385700b1574c5c" /><Relationship Type="http://schemas.openxmlformats.org/officeDocument/2006/relationships/viewProps" Target="/ppt/viewProps.xml" Id="Rbaf39f1b935148c5" /><Relationship Type="http://schemas.openxmlformats.org/officeDocument/2006/relationships/tableStyles" Target="/ppt/tableStyles.xml" Id="Rc2b08cd388e7411d" /><Relationship Type="http://schemas.openxmlformats.org/officeDocument/2006/relationships/slide" Target="/ppt/slides/slide1.xml" Id="R666d3f653e4247bd" /><Relationship Type="http://schemas.openxmlformats.org/officeDocument/2006/relationships/slide" Target="/ppt/slides/slide2.xml" Id="Rd902bfd3ee8f4a98" /><Relationship Type="http://schemas.openxmlformats.org/officeDocument/2006/relationships/slide" Target="/ppt/slides/slide3.xml" Id="R8770a9310a14484d" /><Relationship Type="http://schemas.openxmlformats.org/officeDocument/2006/relationships/slide" Target="/ppt/slides/slide4.xml" Id="R3a0b04a8d9474800" /><Relationship Type="http://schemas.openxmlformats.org/officeDocument/2006/relationships/slide" Target="/ppt/slides/slide5.xml" Id="R335fc865e6ab4b47" /><Relationship Type="http://schemas.openxmlformats.org/officeDocument/2006/relationships/slide" Target="/ppt/slides/slide6.xml" Id="R0ea0c332ffec49bc" /><Relationship Type="http://schemas.openxmlformats.org/officeDocument/2006/relationships/slide" Target="/ppt/slides/slide7.xml" Id="R6fe948ace3d7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eade00899c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aa78b6dc734c77" /><Relationship Type="http://schemas.openxmlformats.org/officeDocument/2006/relationships/notesMaster" Target="/ppt/notesMasters/notesMaster1.xml" Id="R41a78ca0bd114d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980df6504648b8" /><Relationship Type="http://schemas.openxmlformats.org/officeDocument/2006/relationships/notesMaster" Target="/ppt/notesMasters/notesMaster1.xml" Id="R62713ce2d03343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345495991490c" /><Relationship Type="http://schemas.openxmlformats.org/officeDocument/2006/relationships/notesMaster" Target="/ppt/notesMasters/notesMaster1.xml" Id="R24eb821a03f3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43fb6f23b4d81" /><Relationship Type="http://schemas.openxmlformats.org/officeDocument/2006/relationships/notesMaster" Target="/ppt/notesMasters/notesMaster1.xml" Id="R94ca065b81cc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9ff9964c024c32" /><Relationship Type="http://schemas.openxmlformats.org/officeDocument/2006/relationships/notesMaster" Target="/ppt/notesMasters/notesMaster1.xml" Id="Rb128790d94484b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fb12382da4ca8" /><Relationship Type="http://schemas.openxmlformats.org/officeDocument/2006/relationships/notesMaster" Target="/ppt/notesMasters/notesMaster1.xml" Id="R8432780d34a1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5704b9bc44bfa" /><Relationship Type="http://schemas.openxmlformats.org/officeDocument/2006/relationships/notesMaster" Target="/ppt/notesMasters/notesMaster1.xml" Id="R46e61f39b1b94e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256e7420c4a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029d201beb14ef6" /><Relationship Type="http://schemas.openxmlformats.org/officeDocument/2006/relationships/slideLayout" Target="/ppt/slideLayouts/slideLayout2.xml" Id="R39c07c3522674e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07c3522674e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72a68c3c54374" /><Relationship Type="http://schemas.openxmlformats.org/officeDocument/2006/relationships/notesSlide" Target="/ppt/notesSlides/notesSlide1.xml" Id="R66d882c7bf944d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686081dc34b67" /><Relationship Type="http://schemas.openxmlformats.org/officeDocument/2006/relationships/notesSlide" Target="/ppt/notesSlides/notesSlide2.xml" Id="R700d35473765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7c1c891a094212" /><Relationship Type="http://schemas.openxmlformats.org/officeDocument/2006/relationships/notesSlide" Target="/ppt/notesSlides/notesSlide3.xml" Id="R10fe73aeabbb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28ba1b0c74601" /><Relationship Type="http://schemas.openxmlformats.org/officeDocument/2006/relationships/image" Target="/ppt/media/image.png" Id="Re9d9147346094489" /><Relationship Type="http://schemas.openxmlformats.org/officeDocument/2006/relationships/image" Target="/ppt/media/image.svg" Id="Rb403a47c988f41f1" /><Relationship Type="http://schemas.openxmlformats.org/officeDocument/2006/relationships/image" Target="/ppt/media/image2.png" Id="R7657d9aac36e469c" /><Relationship Type="http://schemas.openxmlformats.org/officeDocument/2006/relationships/image" Target="/ppt/media/image2.svg" Id="R60230ae53dbb4bbe" /><Relationship Type="http://schemas.openxmlformats.org/officeDocument/2006/relationships/image" Target="/ppt/media/image3.png" Id="R8cd9d9f5e6d74f1b" /><Relationship Type="http://schemas.openxmlformats.org/officeDocument/2006/relationships/image" Target="/ppt/media/image3.svg" Id="R658b56c4caea4f79" /><Relationship Type="http://schemas.openxmlformats.org/officeDocument/2006/relationships/image" Target="/ppt/media/image4.png" Id="R332e274ce33349ac" /><Relationship Type="http://schemas.openxmlformats.org/officeDocument/2006/relationships/image" Target="/ppt/media/image4.svg" Id="Rbbc6191e6ea9421a" /><Relationship Type="http://schemas.openxmlformats.org/officeDocument/2006/relationships/image" Target="/ppt/media/image5.png" Id="R0be263ed0488464f" /><Relationship Type="http://schemas.openxmlformats.org/officeDocument/2006/relationships/image" Target="/ppt/media/image5.svg" Id="Rc8500c465c434f5b" /><Relationship Type="http://schemas.openxmlformats.org/officeDocument/2006/relationships/image" Target="/ppt/media/image6.png" Id="R45a61bb59fb94e74" /><Relationship Type="http://schemas.openxmlformats.org/officeDocument/2006/relationships/image" Target="/ppt/media/image6.svg" Id="Rce35fde8b8894484" /><Relationship Type="http://schemas.openxmlformats.org/officeDocument/2006/relationships/notesSlide" Target="/ppt/notesSlides/notesSlide4.xml" Id="R87300085731f42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1850dca624077" /><Relationship Type="http://schemas.openxmlformats.org/officeDocument/2006/relationships/image" Target="/ppt/media/image7.png" Id="R24b3968c304645a6" /><Relationship Type="http://schemas.openxmlformats.org/officeDocument/2006/relationships/image" Target="/ppt/media/image7.svg" Id="R8988311d927d4054" /><Relationship Type="http://schemas.openxmlformats.org/officeDocument/2006/relationships/image" Target="/ppt/media/image8.png" Id="R79deff349f7b4c9f" /><Relationship Type="http://schemas.openxmlformats.org/officeDocument/2006/relationships/image" Target="/ppt/media/image8.svg" Id="R2549fc9401944aea" /><Relationship Type="http://schemas.openxmlformats.org/officeDocument/2006/relationships/notesSlide" Target="/ppt/notesSlides/notesSlide5.xml" Id="Ra068f1839c314f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942cc1991487b" /><Relationship Type="http://schemas.openxmlformats.org/officeDocument/2006/relationships/image" Target="/ppt/media/image9.png" Id="R3977ba9744e74b5c" /><Relationship Type="http://schemas.openxmlformats.org/officeDocument/2006/relationships/image" Target="/ppt/media/image9.svg" Id="R3b05eabc094846e1" /><Relationship Type="http://schemas.openxmlformats.org/officeDocument/2006/relationships/image" Target="/ppt/media/image10.png" Id="R3784acc1e52646d1" /><Relationship Type="http://schemas.openxmlformats.org/officeDocument/2006/relationships/image" Target="/ppt/media/image10.svg" Id="R087618cbd93949d9" /><Relationship Type="http://schemas.openxmlformats.org/officeDocument/2006/relationships/image" Target="/ppt/media/image11.png" Id="R026044ce4fd74d5e" /><Relationship Type="http://schemas.openxmlformats.org/officeDocument/2006/relationships/image" Target="/ppt/media/image11.svg" Id="R942ca5a208cf43a7" /><Relationship Type="http://schemas.openxmlformats.org/officeDocument/2006/relationships/image" Target="/ppt/media/image12.png" Id="Rc263322b09ea4d60" /><Relationship Type="http://schemas.openxmlformats.org/officeDocument/2006/relationships/image" Target="/ppt/media/image12.svg" Id="R23f7bfd056ff4ba7" /><Relationship Type="http://schemas.openxmlformats.org/officeDocument/2006/relationships/notesSlide" Target="/ppt/notesSlides/notesSlide6.xml" Id="Rd6e2ec26759440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b90b4d06d744a2" /><Relationship Type="http://schemas.openxmlformats.org/officeDocument/2006/relationships/notesSlide" Target="/ppt/notesSlides/notesSlide7.xml" Id="R9e16a7d013904e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B93876-E0B1-409E-B42C-66368EE8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71C0-B9AF-457C-B41C-D7C002A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F9932-9943-4B6F-A8E2-67297D9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AD6DD-DC9D-4855-9456-A3677C70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E‑commerce Microservices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62C6F-38CC-4685-A49B-7B057851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Spring Boot • Spring Cloud • API Gateway • JWT • Redis •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21488-4255-4F6E-B724-41E8CC1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CEAC0-5404-44BE-8CA3-B252397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036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this deck covers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46DB-037D-4920-88D3-EC90074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Project overview and business goal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System architecture (frontend → gateway → microservices)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Key features delivered (auth, catalog, cart/order, payment)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Security approach and learnings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Next steps for production 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FD2F-16E1-4156-9071-DFA16C92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Prepared for TCS Delivery Leadership • 10 May 2026</a:t>
            </a:r>
          </a:p>
        </p:txBody>
      </p:sp>
    </p:spTree>
    <p:extLst>
      <p:ext uri="{BB962C8B-B14F-4D97-AF65-F5344CB8AC3E}">
        <p14:creationId xmlns:p14="http://schemas.microsoft.com/office/powerpoint/2010/main" val="2052512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B0D79-D31B-4819-BB1A-F62831C1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E7A81-6DB6-4D46-886D-D31D1F49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A8395-01C3-4477-A727-BA787FB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6451D-E3C9-429F-A16C-AAE0DA29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Goal: build a scalable e‑commerce backend with independent services and a unified API entry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DA97F-47CA-4BA8-80FE-B30EA92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448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A2E1F-382C-459A-B8C6-19E3D96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33500"/>
            <a:ext cx="5448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1DDD5-165F-4855-B85C-F7C84B7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Why Microservices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E25A7-C366-42E3-BD00-2376A98D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91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Independent deployability per domain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Scalability per workload (catalog vs orders)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Fault isolation with resilience patterns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Clear ownership boundaries and clean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A322B-ACF6-4CCE-A7CE-7DF31624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58641-ED09-4A56-A372-13B8511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91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API Gateway as frontdoor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Auth service issues JWT + refresh flow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Product/Catalog + Categories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Order + Cart + Address flows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Payment service integration (PayPal)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DCC76-50AE-4DBC-B772-C651CCA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430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Non‑Functional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C7D46-1207-47E7-B9E2-ABD3532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991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Low-latency routing via gateway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Stateless auth with JWT + caching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Service discovery (Eureka) and config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Observability readiness (Actuator, logs)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56BC9-4996-4F47-859C-EE57BE6A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Tech Stack (high level)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32229-FE6D-4312-B7E3-740CB2F6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4991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Backend: Java 17, Spring Boot 3.2.x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Spring Cloud: Gateway, Eureka, Config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Data: PostgreSQL, Redis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Frontend: React + Vite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5B8D9-44E1-428E-9115-6F60BDE7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Slide 2 / 7</a:t>
            </a:r>
          </a:p>
        </p:txBody>
      </p:sp>
    </p:spTree>
    <p:extLst>
      <p:ext uri="{BB962C8B-B14F-4D97-AF65-F5344CB8AC3E}">
        <p14:creationId xmlns:p14="http://schemas.microsoft.com/office/powerpoint/2010/main" val="1520851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CC8C2F-B3B0-46FB-8C41-3F7A13C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1867D-4414-4EC3-9D65-9700BFE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98338-624B-4664-9ECD-7A5CA4D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Architecture (High Level)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7AFDB-6214-45F5-90ED-316DA6C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F7892-AA8E-4BBE-9244-E690E48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Frontend (React)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F0827-A9C7-4895-BACC-2D9C20BF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Vite + Axios + Redux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4B97-1A18-4280-B295-B79B29AE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F39F9-47E7-476B-B138-90169BB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96508-DE33-4358-80A9-3FD13D4B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478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Spring Cloud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22B1C-90C0-44B0-90F0-3F49681D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096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D1978-BF0C-43D1-88EF-4D0BD7F9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049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Auth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9494B-B32E-4A42-9773-12ADEBE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33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JWT + Refresh, Redis,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67E23-D491-406C-95C8-A7926781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288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C6E1B-C3AD-4BD3-AF4F-3DEA18F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13F5F-8E7E-4DEA-B6D3-64C20C68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Catalog +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B8757-F5F1-4AB9-A5C4-DC2233A2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B8E68-BD6F-48EC-BBC6-2E3CD2D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Order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51B32-C163-4CCD-AE79-7DC0843C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Cart + Orders + Address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282CD-3811-4365-B89F-DBE6F7F0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56451-E6F4-4655-B854-C573E759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Payment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7EF77-1EC0-418B-9EFA-3996A9C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PayPal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92699-E586-4C6D-8381-A47A227F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14513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BE59E-0C2B-4A08-AF13-AE99E706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5B5DD-250A-4B6D-9B87-6294BB7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14513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8EDB7-2519-425C-84FC-1543A4BF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8EDE9-B153-4629-A1D8-20ED892B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14513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97EFC-0B4D-4805-A29E-DE7BDDE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6A56A-EEE6-4585-A0A4-AD0B82A9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14513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8D30F-2651-493D-8080-CCCF88D6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89953-2647-4C99-A840-1C5222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1828800"/>
            <a:ext cx="285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88EAD-5F8E-4EC8-B749-982E096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6173C-A316-4F93-B038-50DFE36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66872-B96F-459A-9182-895A558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78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Platform Components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34E8E-844F-41AF-AB59-914FFC2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78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Service Discovery: Eureka  •  Central Config: Config Server  •  Caching: Redis  •  DB: PostgreSQL  •  Resilience: Resilience4j  •  Observability: Actuator + logs (ELK ready)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039EF-8660-4336-B884-23311A9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Slide 3 / 7</a:t>
            </a:r>
          </a:p>
        </p:txBody>
      </p:sp>
    </p:spTree>
    <p:extLst>
      <p:ext uri="{BB962C8B-B14F-4D97-AF65-F5344CB8AC3E}">
        <p14:creationId xmlns:p14="http://schemas.microsoft.com/office/powerpoint/2010/main" val="4381991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F5F6F-E3F4-4BA7-8F75-880C87C4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D7B5B-FB13-42F2-A7D3-0FD094C5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D300C-2F8A-458E-88A8-4FF2C40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Key Features Delivered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91CEC-DC8B-42F8-8993-0246D06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9147346094489">
            <a:extLst>
              <a:ext uri="{96DAC541-7B7A-43D3-8B79-37D633B846F1}">
                <asvg:svgBlip xmlns:asvg="http://schemas.microsoft.com/office/drawing/2016/SVG/main" r:embed="Rb403a47c988f41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295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6A660-0C6D-4685-A921-093DF63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763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58ABF-5438-47C3-A249-1F98AA8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Sign-in / Sign-up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JWT + refresh token flow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Gateway validates JWT 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181C9-E8B7-478E-8ADA-E0A3536C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1430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7d9aac36e469c">
            <a:extLst>
              <a:ext uri="{96DAC541-7B7A-43D3-8B79-37D633B846F1}">
                <asvg:svgBlip xmlns:asvg="http://schemas.microsoft.com/office/drawing/2016/SVG/main" r:embed="R60230ae53dbb4b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1350" y="1295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9A397-864E-4078-898D-1913808E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12763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 &amp;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EF8F8-051A-4CC9-8FCB-7A5F1DC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16383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Products, categories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Public browsing endpoints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Role-protected admin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71599-BA2E-4C4F-B9BD-E9861BE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1430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9d9f5e6d74f1b">
            <a:extLst>
              <a:ext uri="{96DAC541-7B7A-43D3-8B79-37D633B846F1}">
                <asvg:svgBlip xmlns:asvg="http://schemas.microsoft.com/office/drawing/2016/SVG/main" r:embed="R658b56c4caea4f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16900" y="1295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27AAE-115B-4993-983E-E9DCC398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763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Cart &amp;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7B3DD-760F-48F5-A65B-75F08C3B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16383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Cart operations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Order placement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Address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F77C3-7E3E-4546-A2D9-3466DD2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e274ce33349ac">
            <a:extLst>
              <a:ext uri="{96DAC541-7B7A-43D3-8B79-37D633B846F1}">
                <asvg:svgBlip xmlns:asvg="http://schemas.microsoft.com/office/drawing/2016/SVG/main" r:embed="Rbbc6191e6ea942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086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BBBFD-9547-4291-87D9-004322F5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843A6-1835-47B2-8F88-82FEC57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Payment service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External payment integration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Separation from order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036D0-808A-46B2-B7E7-601CA6B7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9337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263ed0488464f">
            <a:extLst>
              <a:ext uri="{96DAC541-7B7A-43D3-8B79-37D633B846F1}">
                <asvg:svgBlip xmlns:asvg="http://schemas.microsoft.com/office/drawing/2016/SVG/main" r:embed="Rc8500c465c434f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1350" y="3086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EF2C2-1C9F-46B2-96C5-E10A0A3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30670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E86F2-6285-4C8C-9BD5-AE6DE53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290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Circuit breaker ready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Fault isolation per service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Gateway-level stability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43879-9A68-4901-973F-7B46D10A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933700"/>
            <a:ext cx="359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61bb59fb94e74">
            <a:extLst>
              <a:ext uri="{96DAC541-7B7A-43D3-8B79-37D633B846F1}">
                <asvg:svgBlip xmlns:asvg="http://schemas.microsoft.com/office/drawing/2016/SVG/main" r:embed="Rce35fde8b88944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16900" y="3086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48A11-2897-482A-B850-9552FE9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306705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0F4DD-7FA1-448A-A07B-5DF1C204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429000"/>
            <a:ext cx="3289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Actuator endpoints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Structured logs (ELK ready)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Tracing hooks 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679E1-F5E5-4453-9624-F117C4D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Slide 4 / 7</a:t>
            </a:r>
          </a:p>
        </p:txBody>
      </p:sp>
    </p:spTree>
    <p:extLst>
      <p:ext uri="{BB962C8B-B14F-4D97-AF65-F5344CB8AC3E}">
        <p14:creationId xmlns:p14="http://schemas.microsoft.com/office/powerpoint/2010/main" val="1179390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96EFC-F6A4-49EE-ACD6-C558568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26253-EDBD-48BB-8483-71FA2F52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90C97-FA17-4A56-8B47-A6AB9B21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Security Model (How it works)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13776-EC81-43A8-B7F2-F1590040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9F433-1E7C-445E-918F-6B66044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AC3E3-5515-4DB4-BE2C-B95F395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306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Client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87130-8889-4EDA-A308-6FE4189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06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Sends cookie or Bearer token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Calls only gateway URL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3968c304645a6">
            <a:extLst>
              <a:ext uri="{96DAC541-7B7A-43D3-8B79-37D633B846F1}">
                <asvg:svgBlip xmlns:asvg="http://schemas.microsoft.com/office/drawing/2016/SVG/main" r:embed="R8988311d927d40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65600" y="1695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75F61-6D95-4784-94BF-5A6FF73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371600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C4CF4-E724-4655-8E1D-F42C3170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1447800"/>
            <a:ext cx="306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API Gateway (Frontdoor)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253A3-3928-4E92-97AB-E3E998A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1676400"/>
            <a:ext cx="306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Validates JWT signature/expiry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Caches validation (Redis)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Injects X‑User‑* headers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eff349f7b4c9f">
            <a:extLst>
              <a:ext uri="{96DAC541-7B7A-43D3-8B79-37D633B846F1}">
                <asvg:svgBlip xmlns:asvg="http://schemas.microsoft.com/office/drawing/2016/SVG/main" r:embed="R2549fc9401944a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74000" y="1695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0580F-46E2-4622-874D-410CE4FC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1371600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D76AD-5C14-4DA9-A155-6A21BA1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1447800"/>
            <a:ext cx="306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Microservice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3A3C8-B470-4A51-923B-004932F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1676400"/>
            <a:ext cx="306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Does NOT parse JWT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Trusts gateway headers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Enforces roles/permissions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4C2BC-5BFC-4D84-B4C5-DB2CECA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5476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B3488-65FC-4A1F-9510-0D70D59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09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is centralized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53F2B-4511-45B6-AA3E-0ED075F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095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JWT validation happens once in the gateway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Public routes are allowed without token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Gateway adds identity headers: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 - X-User-Id, X-User-Email, X-User-Roles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DEBBE-B0F6-445C-918B-37B986E1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5476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821C4-F470-4FD7-A20F-98782142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14650"/>
            <a:ext cx="509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Production must-haves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12057-3A8F-4177-9042-4B85C88D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57550"/>
            <a:ext cx="5095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Microservices must be internal-only (no public exposure)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Add trust proof (mTLS or shared secret header)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Keep service-level authorization close to business logic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CORS is for browsers, not for authentication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7F84A-45C2-4314-A3F0-489668F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182B3-74D2-4A2D-B686-72826C9B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Key point: Gateway-only auth is safe only when services cannot be called directly.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01794-F2A0-472A-B5EE-CC1C299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Slide 5 / 7</a:t>
            </a:r>
          </a:p>
        </p:txBody>
      </p:sp>
    </p:spTree>
    <p:extLst>
      <p:ext uri="{BB962C8B-B14F-4D97-AF65-F5344CB8AC3E}">
        <p14:creationId xmlns:p14="http://schemas.microsoft.com/office/powerpoint/2010/main" val="18255593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6AE00-136C-42FF-8B65-62A9B7E2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5839B-6B58-47D1-8B8B-7AA3B62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686D9-A3E0-4855-8058-DEAA71C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What I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D380-B2E4-4CD8-A93B-2B76564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547687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ba9744e74b5c">
            <a:extLst>
              <a:ext uri="{96DAC541-7B7A-43D3-8B79-37D633B846F1}">
                <asvg:svgBlip xmlns:asvg="http://schemas.microsoft.com/office/drawing/2016/SVG/main" r:embed="R3b05eabc094846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12954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4739A-531F-446A-A0D4-D3AF6D37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7635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Spring Cloud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BCB72-64A9-4F03-B679-0A35679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51339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API Gateway routing and global filters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Service discovery with Eureka and client-side load balancing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Central configuration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AAFF3-CD95-4616-955F-933B0CD4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23950"/>
            <a:ext cx="547687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4acc1e52646d1">
            <a:extLst>
              <a:ext uri="{96DAC541-7B7A-43D3-8B79-37D633B846F1}">
                <asvg:svgBlip xmlns:asvg="http://schemas.microsoft.com/office/drawing/2016/SVG/main" r:embed="R087618cbd93949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12954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D15DD-C148-4729-8EE7-DD167E8E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27635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Security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B0E9B-B307-41D8-946E-60E279B6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38300"/>
            <a:ext cx="51339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JWT design: claims, expiry, signature validation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Centralize validation at gateway + propagate identity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Role-based authorization with Spring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854CF-61FF-4C23-AD80-C67AD681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47687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044ce4fd74d5e">
            <a:extLst>
              <a:ext uri="{96DAC541-7B7A-43D3-8B79-37D633B846F1}">
                <asvg:svgBlip xmlns:asvg="http://schemas.microsoft.com/office/drawing/2016/SVG/main" r:embed="R942ca5a208cf43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3886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847B-D7EC-44C0-9917-6356FF6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Performance &amp; 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7FE82-41A6-4E14-9C86-13087C0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51339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Caching strategy (Redis) for repeated token validations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Resilience4j concepts (timeouts, circuit breakers)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Designing idempotent service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DF5B1-9F97-4FEC-B2FD-9ED07111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547687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3322b09ea4d60">
            <a:extLst>
              <a:ext uri="{96DAC541-7B7A-43D3-8B79-37D633B846F1}">
                <asvg:svgBlip xmlns:asvg="http://schemas.microsoft.com/office/drawing/2016/SVG/main" r:embed="R23f7bfd056ff4b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3886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B82B6-62EB-4C62-8D8D-FC9F2AF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6715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Engineering Practices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4B31D-DE75-4187-B1A4-4F0E9F1F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29100"/>
            <a:ext cx="51339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Clean DTO boundaries vs entity exposure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Meaningful error handling and consistent API contracts</a:t>
            </a:r>
          </a:p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Debugging distributed flows across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550F5-47C0-479C-A4BF-9D40FF1A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Slide 6 / 7</a:t>
            </a:r>
          </a:p>
        </p:txBody>
      </p:sp>
    </p:spTree>
    <p:extLst>
      <p:ext uri="{BB962C8B-B14F-4D97-AF65-F5344CB8AC3E}">
        <p14:creationId xmlns:p14="http://schemas.microsoft.com/office/powerpoint/2010/main" val="16793765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5E1BF-3E53-4304-B546-010EA348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832D0-B95B-4E48-83A7-90C833B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ACE8B-446A-4E22-8C94-8464BE4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2E4A"/>
                </a:solidFill>
                <a:latin typeface="Aptos Display"/>
                <a:ea typeface="Aptos Display"/>
                <a:cs typeface="Aptos Display"/>
              </a:rPr>
              <a:t>Outcomes &amp;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14FBC-2E79-4C37-AA3E-38A5A65E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54768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A985F-C2AA-466D-89EA-208CDA9E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09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D97A5-507D-4B91-AF41-EB47408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09587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Built an end-to-end microservices platform with a single API entry point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Implemented JWT authentication and identity propagation pattern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Enforced role-based authorization for protected actions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Introduced Redis caching and resilience-ready components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Improved understanding of distributed debugging and API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A8F14-58AD-4763-A153-04290011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81100"/>
            <a:ext cx="54768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E3367-48A1-47AF-A9B7-85C5542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352550"/>
            <a:ext cx="509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Steps (Production)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CEEFB-9893-4499-82CD-96EABD11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14500"/>
            <a:ext cx="509587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Restrict service exposure (internal-only networking)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Add trust proof between gateway and services (mTLS or shared secret)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Centralize config/secrets via vault or secure config server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Add CI/CD pipeline + containerization + Kubernetes deployment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Expand observability: tracing, dashboards, alerts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Performance tests and capacity planning per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2930E-D8E0-4BD0-8D24-7FBDEE4E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7EDE7-44D0-4BED-B869-3C1CDC0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Ask: approval to proceed with production hardening (network isolation + gateway-to-service trust).</a:t>
            </a:r>
          </a:p>
        </p:txBody>
      </p:sp>
    </p:spTree>
    <p:extLst>
      <p:ext uri="{BB962C8B-B14F-4D97-AF65-F5344CB8AC3E}">
        <p14:creationId xmlns:p14="http://schemas.microsoft.com/office/powerpoint/2010/main" val="1259734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2026-05-10T08:15:22.3630000Z</dcterms:created>
  <dcterms:modified xsi:type="dcterms:W3CDTF">2026-05-10T08:15:22.3630000Z</dcterms:modified>
</coreProperties>
</file>